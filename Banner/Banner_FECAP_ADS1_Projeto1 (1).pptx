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43200625" cx="28800425"/>
  <p:notesSz cx="6858000" cy="9144000"/>
  <p:embeddedFontLst>
    <p:embeddedFont>
      <p:font typeface="Inter"/>
      <p:regular r:id="rId7"/>
      <p:bold r:id="rId8"/>
      <p:italic r:id="rId9"/>
      <p:boldItalic r:id="rId10"/>
    </p:embeddedFont>
    <p:embeddedFont>
      <p:font typeface="Open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66" orient="horz"/>
        <p:guide pos="548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-regular.fntdata"/><Relationship Id="rId10" Type="http://schemas.openxmlformats.org/officeDocument/2006/relationships/font" Target="fonts/Inter-boldItalic.fntdata"/><Relationship Id="rId13" Type="http://schemas.openxmlformats.org/officeDocument/2006/relationships/font" Target="fonts/OpenSans-italic.fntdata"/><Relationship Id="rId12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italic.fntdata"/><Relationship Id="rId14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nter-regular.fntdata"/><Relationship Id="rId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b="1" sz="7623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indent="-567436" lvl="1" marL="9144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indent="-519049" lvl="2" marL="13716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indent="-470599" lvl="3" marL="18288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indent="-470598" lvl="4" marL="22860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indent="-470598" lvl="5" marL="2743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indent="-470598" lvl="6" marL="3200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indent="-470598" lvl="7" marL="3657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indent="-470598" lvl="8" marL="41148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b="0" i="0" sz="83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marR="0" rtl="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b="0" i="0" sz="60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67436" lvl="1" marL="914400" marR="0" rtl="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b="0" i="0" sz="53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19049" lvl="2" marL="1371600" marR="0" rtl="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b="0" i="0" sz="45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70599" lvl="3" marL="18288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70598" lvl="4" marL="22860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70598" lvl="5" marL="27432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70598" lvl="6" marL="32004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70598" lvl="7" marL="36576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70598" lvl="8" marL="41148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4F3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3"/>
            <p:cNvSpPr/>
            <p:nvPr/>
          </p:nvSpPr>
          <p:spPr>
            <a:xfrm>
              <a:off x="0" y="0"/>
              <a:ext cx="3032124" cy="607578"/>
            </a:xfrm>
            <a:custGeom>
              <a:rect b="b" l="l" r="r" t="t"/>
              <a:pathLst>
                <a:path extrusionOk="0" h="607578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3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3"/>
          <p:cNvSpPr/>
          <p:nvPr/>
        </p:nvSpPr>
        <p:spPr>
          <a:xfrm>
            <a:off x="3163237" y="34829695"/>
            <a:ext cx="22769151" cy="14311010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3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3"/>
            <p:cNvSpPr/>
            <p:nvPr/>
          </p:nvSpPr>
          <p:spPr>
            <a:xfrm>
              <a:off x="0" y="0"/>
              <a:ext cx="3163653" cy="870076"/>
            </a:xfrm>
            <a:custGeom>
              <a:rect b="b" l="l" r="r" t="t"/>
              <a:pathLst>
                <a:path extrusionOk="0" h="870076" w="3163653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3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l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3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3"/>
            <p:cNvSpPr/>
            <p:nvPr/>
          </p:nvSpPr>
          <p:spPr>
            <a:xfrm>
              <a:off x="0" y="0"/>
              <a:ext cx="3225442" cy="841941"/>
            </a:xfrm>
            <a:custGeom>
              <a:rect b="b" l="l" r="r" t="t"/>
              <a:pathLst>
                <a:path extrusionOk="0" h="841941" w="3225442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3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3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3"/>
            <p:cNvSpPr/>
            <p:nvPr/>
          </p:nvSpPr>
          <p:spPr>
            <a:xfrm>
              <a:off x="0" y="0"/>
              <a:ext cx="3032124" cy="739677"/>
            </a:xfrm>
            <a:custGeom>
              <a:rect b="b" l="l" r="r" t="t"/>
              <a:pathLst>
                <a:path extrusionOk="0" h="739677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3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3"/>
          <p:cNvGrpSpPr/>
          <p:nvPr/>
        </p:nvGrpSpPr>
        <p:grpSpPr>
          <a:xfrm>
            <a:off x="-234719" y="6816147"/>
            <a:ext cx="29304069" cy="9226118"/>
            <a:chOff x="0" y="-47625"/>
            <a:chExt cx="3218728" cy="867524"/>
          </a:xfrm>
        </p:grpSpPr>
        <p:sp>
          <p:nvSpPr>
            <p:cNvPr id="98" name="Google Shape;98;p13"/>
            <p:cNvSpPr/>
            <p:nvPr/>
          </p:nvSpPr>
          <p:spPr>
            <a:xfrm>
              <a:off x="0" y="0"/>
              <a:ext cx="3218728" cy="819899"/>
            </a:xfrm>
            <a:custGeom>
              <a:rect b="b" l="l" r="r" t="t"/>
              <a:pathLst>
                <a:path extrusionOk="0" h="819899" w="3218728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3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3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3"/>
            <p:cNvSpPr/>
            <p:nvPr/>
          </p:nvSpPr>
          <p:spPr>
            <a:xfrm>
              <a:off x="0" y="0"/>
              <a:ext cx="2755436" cy="803341"/>
            </a:xfrm>
            <a:custGeom>
              <a:rect b="b" l="l" r="r" t="t"/>
              <a:pathLst>
                <a:path extrusionOk="0" h="803341" w="2755436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3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3"/>
          <p:cNvGrpSpPr/>
          <p:nvPr/>
        </p:nvGrpSpPr>
        <p:grpSpPr>
          <a:xfrm rot="-5400000">
            <a:off x="11084396" y="13184457"/>
            <a:ext cx="20464104" cy="13034120"/>
            <a:chOff x="0" y="-47625"/>
            <a:chExt cx="1922704" cy="1224620"/>
          </a:xfrm>
        </p:grpSpPr>
        <p:sp>
          <p:nvSpPr>
            <p:cNvPr id="104" name="Google Shape;104;p13"/>
            <p:cNvSpPr/>
            <p:nvPr/>
          </p:nvSpPr>
          <p:spPr>
            <a:xfrm>
              <a:off x="0" y="0"/>
              <a:ext cx="1922704" cy="1176995"/>
            </a:xfrm>
            <a:custGeom>
              <a:rect b="b" l="l" r="r" t="t"/>
              <a:pathLst>
                <a:path extrusionOk="0" h="1176995" w="1922704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3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3"/>
          <p:cNvGrpSpPr/>
          <p:nvPr/>
        </p:nvGrpSpPr>
        <p:grpSpPr>
          <a:xfrm>
            <a:off x="927180" y="30011217"/>
            <a:ext cx="13848538" cy="9234980"/>
            <a:chOff x="0" y="-47625"/>
            <a:chExt cx="1302166" cy="868357"/>
          </a:xfrm>
        </p:grpSpPr>
        <p:sp>
          <p:nvSpPr>
            <p:cNvPr id="107" name="Google Shape;107;p13"/>
            <p:cNvSpPr/>
            <p:nvPr/>
          </p:nvSpPr>
          <p:spPr>
            <a:xfrm>
              <a:off x="0" y="0"/>
              <a:ext cx="1302166" cy="820732"/>
            </a:xfrm>
            <a:custGeom>
              <a:rect b="b" l="l" r="r" t="t"/>
              <a:pathLst>
                <a:path extrusionOk="0" h="820732" w="1302166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3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3"/>
          <p:cNvGrpSpPr/>
          <p:nvPr/>
        </p:nvGrpSpPr>
        <p:grpSpPr>
          <a:xfrm>
            <a:off x="15403306" y="30138544"/>
            <a:ext cx="12527228" cy="8125799"/>
            <a:chOff x="0" y="-314078"/>
            <a:chExt cx="8764870" cy="5685342"/>
          </a:xfrm>
        </p:grpSpPr>
        <p:grpSp>
          <p:nvGrpSpPr>
            <p:cNvPr id="110" name="Google Shape;110;p13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3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rect b="b" l="l" r="r" t="t"/>
                <a:pathLst>
                  <a:path extrusionOk="0" h="814469" w="1329056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cap="sq" cmpd="sng" w="19050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r>
                  <a:t/>
                </a:r>
                <a:endParaRPr b="0" i="0" sz="676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3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6800" lIns="96800" spcFirstLastPara="1" rIns="96800" wrap="square" tIns="96800">
                <a:noAutofit/>
              </a:bodyPr>
              <a:lstStyle/>
              <a:p>
                <a:pPr indent="0" lvl="0" marL="0" marR="0" rtl="0" algn="ctr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r>
                  <a:t/>
                </a:r>
                <a:endParaRPr b="0" i="0" sz="676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3"/>
            <p:cNvSpPr txBox="1"/>
            <p:nvPr/>
          </p:nvSpPr>
          <p:spPr>
            <a:xfrm>
              <a:off x="1064599" y="235141"/>
              <a:ext cx="66357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62"/>
                <a:buFont typeface="Arial"/>
                <a:buNone/>
              </a:pPr>
              <a:r>
                <a:rPr b="1" i="0" lang="en-US" sz="45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 b="0" i="0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13"/>
          <p:cNvSpPr/>
          <p:nvPr/>
        </p:nvSpPr>
        <p:spPr>
          <a:xfrm>
            <a:off x="-916543" y="1151807"/>
            <a:ext cx="8568160" cy="2453356"/>
          </a:xfrm>
          <a:custGeom>
            <a:rect b="b" l="l" r="r" t="t"/>
            <a:pathLst>
              <a:path extrusionOk="0" h="1287851" w="4497722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3163237" y="-4997460"/>
            <a:ext cx="22769151" cy="14311010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21014306" y="1379884"/>
            <a:ext cx="7225835" cy="2334237"/>
          </a:xfrm>
          <a:custGeom>
            <a:rect b="b" l="l" r="r" t="t"/>
            <a:pathLst>
              <a:path extrusionOk="0" h="1225321" w="3793089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7"/>
              <a:buFont typeface="Arial"/>
              <a:buNone/>
            </a:pPr>
            <a:r>
              <a:rPr b="1" i="0" lang="en-US" sz="507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3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19" name="Google Shape;119;p13"/>
            <p:cNvSpPr/>
            <p:nvPr/>
          </p:nvSpPr>
          <p:spPr>
            <a:xfrm>
              <a:off x="0" y="0"/>
              <a:ext cx="958980" cy="1301139"/>
            </a:xfrm>
            <a:custGeom>
              <a:rect b="b" l="l" r="r" t="t"/>
              <a:pathLst>
                <a:path extrusionOk="0" h="1301139" w="95898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3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13"/>
          <p:cNvGrpSpPr/>
          <p:nvPr/>
        </p:nvGrpSpPr>
        <p:grpSpPr>
          <a:xfrm rot="-5400000">
            <a:off x="2616002" y="17805386"/>
            <a:ext cx="9963998" cy="14355430"/>
            <a:chOff x="0" y="-47625"/>
            <a:chExt cx="936167" cy="1348764"/>
          </a:xfrm>
        </p:grpSpPr>
        <p:sp>
          <p:nvSpPr>
            <p:cNvPr id="122" name="Google Shape;122;p13"/>
            <p:cNvSpPr/>
            <p:nvPr/>
          </p:nvSpPr>
          <p:spPr>
            <a:xfrm>
              <a:off x="0" y="0"/>
              <a:ext cx="936167" cy="1301139"/>
            </a:xfrm>
            <a:custGeom>
              <a:rect b="b" l="l" r="r" t="t"/>
              <a:pathLst>
                <a:path extrusionOk="0" h="1301139" w="936167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3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13"/>
          <p:cNvSpPr/>
          <p:nvPr/>
        </p:nvSpPr>
        <p:spPr>
          <a:xfrm>
            <a:off x="22527251" y="36801439"/>
            <a:ext cx="5609093" cy="5642282"/>
          </a:xfrm>
          <a:custGeom>
            <a:rect b="b" l="l" r="r" t="t"/>
            <a:pathLst>
              <a:path extrusionOk="0" h="2960783" w="2943367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3"/>
          <p:cNvSpPr txBox="1"/>
          <p:nvPr/>
        </p:nvSpPr>
        <p:spPr>
          <a:xfrm>
            <a:off x="-6687" y="3747667"/>
            <a:ext cx="28813800" cy="23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34"/>
              <a:buFont typeface="Arial"/>
              <a:buNone/>
            </a:pPr>
            <a:r>
              <a:rPr b="1" lang="en-US" sz="7534">
                <a:latin typeface="Open Sans"/>
                <a:ea typeface="Open Sans"/>
                <a:cs typeface="Open Sans"/>
                <a:sym typeface="Open Sans"/>
              </a:rPr>
              <a:t>Sistema Desktop para Gestão de Assinaturas de Jogos Educacionais – Messier Data &amp; Creative </a:t>
            </a:r>
            <a:endParaRPr b="0" i="0" sz="65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1534413" y="6355575"/>
            <a:ext cx="25731600" cy="1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lang="en-US" sz="4762">
                <a:latin typeface="Open Sans"/>
                <a:ea typeface="Open Sans"/>
                <a:cs typeface="Open Sans"/>
                <a:sym typeface="Open Sans"/>
              </a:rPr>
              <a:t>Ana Julia Quintans</a:t>
            </a: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b="1" lang="en-US" sz="4762">
                <a:latin typeface="Open Sans"/>
                <a:ea typeface="Open Sans"/>
                <a:cs typeface="Open Sans"/>
                <a:sym typeface="Open Sans"/>
              </a:rPr>
              <a:t>Cleyton Ferreira</a:t>
            </a: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b="1" lang="en-US" sz="4762">
                <a:latin typeface="Open Sans"/>
                <a:ea typeface="Open Sans"/>
                <a:cs typeface="Open Sans"/>
                <a:sym typeface="Open Sans"/>
              </a:rPr>
              <a:t>Leonardo Encinas</a:t>
            </a: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b="1" lang="en-US" sz="4762">
                <a:latin typeface="Open Sans"/>
                <a:ea typeface="Open Sans"/>
                <a:cs typeface="Open Sans"/>
                <a:sym typeface="Open Sans"/>
              </a:rPr>
              <a:t>Riane Toscano, Ricardo 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Orientadores: </a:t>
            </a:r>
            <a:r>
              <a:rPr b="0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4762">
                <a:latin typeface="Open Sans"/>
                <a:ea typeface="Open Sans"/>
                <a:cs typeface="Open Sans"/>
                <a:sym typeface="Open Sans"/>
              </a:rPr>
              <a:t>imar Lopes</a:t>
            </a:r>
            <a:r>
              <a:rPr b="0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4762">
                <a:latin typeface="Open Sans"/>
                <a:ea typeface="Open Sans"/>
                <a:cs typeface="Open Sans"/>
                <a:sym typeface="Open Sans"/>
              </a:rPr>
              <a:t>Eduardo Savino</a:t>
            </a:r>
            <a:r>
              <a:rPr b="0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4762">
                <a:latin typeface="Open Sans"/>
                <a:ea typeface="Open Sans"/>
                <a:cs typeface="Open Sans"/>
                <a:sym typeface="Open Sans"/>
              </a:rPr>
              <a:t>Lucy Tabuti</a:t>
            </a:r>
            <a:r>
              <a:rPr b="0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4762">
                <a:latin typeface="Open Sans"/>
                <a:ea typeface="Open Sans"/>
                <a:cs typeface="Open Sans"/>
                <a:sym typeface="Open Sans"/>
              </a:rPr>
              <a:t>Renata Muniz, Ronaldo Araujo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15353293" y="21179411"/>
            <a:ext cx="124332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Inter"/>
                <a:ea typeface="Inter"/>
                <a:cs typeface="Inter"/>
                <a:sym typeface="Inter"/>
              </a:rPr>
              <a:t>Fluxo 01: Fluxo do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15353293" y="27438603"/>
            <a:ext cx="124332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b="0" i="0" lang="en-US" sz="343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Fonte: Autoria Própria (202</a:t>
            </a:r>
            <a:r>
              <a:rPr lang="en-US" sz="3430">
                <a:latin typeface="Inter"/>
                <a:ea typeface="Inter"/>
                <a:cs typeface="Inter"/>
                <a:sym typeface="Inter"/>
              </a:rPr>
              <a:t>6</a:t>
            </a:r>
            <a:r>
              <a:rPr b="0" i="0" lang="en-US" sz="343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2561448" y="30828367"/>
            <a:ext cx="10186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 b="0" i="0" sz="4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3"/>
          <p:cNvSpPr txBox="1"/>
          <p:nvPr/>
        </p:nvSpPr>
        <p:spPr>
          <a:xfrm>
            <a:off x="16223205" y="9804645"/>
            <a:ext cx="10186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lang="en-US" sz="4500"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 b="1" sz="4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" name="Google Shape;131;p13"/>
          <p:cNvSpPr txBox="1"/>
          <p:nvPr/>
        </p:nvSpPr>
        <p:spPr>
          <a:xfrm>
            <a:off x="2644303" y="10010495"/>
            <a:ext cx="10186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lang="en-US" sz="4500">
                <a:latin typeface="Open Sans"/>
                <a:ea typeface="Open Sans"/>
                <a:cs typeface="Open Sans"/>
                <a:sym typeface="Open Sans"/>
              </a:rPr>
              <a:t>PROBLEMA</a:t>
            </a:r>
            <a:endParaRPr b="0" i="0" sz="4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3"/>
          <p:cNvSpPr txBox="1"/>
          <p:nvPr/>
        </p:nvSpPr>
        <p:spPr>
          <a:xfrm>
            <a:off x="2758254" y="20417139"/>
            <a:ext cx="10186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 b="0" i="0" sz="4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3"/>
          <p:cNvSpPr txBox="1"/>
          <p:nvPr/>
        </p:nvSpPr>
        <p:spPr>
          <a:xfrm>
            <a:off x="15966975" y="31986551"/>
            <a:ext cx="11400000" cy="56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/>
              <a:t>MESSIER DATA &amp; CREATIVE. Projeto Interdisciplinar: Aplicativo Desktop para Gestão de Assinaturas de Jogos Educacionais. 2026. </a:t>
            </a:r>
            <a:endParaRPr sz="3430"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00">
                <a:solidFill>
                  <a:schemeClr val="dk1"/>
                </a:solidFill>
              </a:rPr>
              <a:t>KNAPP, Jake; ZERATSKY, John; KOWITZ, Braden. </a:t>
            </a:r>
            <a:r>
              <a:rPr i="1" lang="en-US" sz="3400">
                <a:solidFill>
                  <a:schemeClr val="dk1"/>
                </a:solidFill>
              </a:rPr>
              <a:t>Sprint: o método usado no Google para testar e aplicar novas ideias em apenas cinco dias</a:t>
            </a:r>
            <a:r>
              <a:rPr lang="en-US" sz="3400">
                <a:solidFill>
                  <a:schemeClr val="dk1"/>
                </a:solidFill>
              </a:rPr>
              <a:t>. Rio de Janeiro: Intrínseca, 2017. </a:t>
            </a:r>
            <a:endParaRPr sz="3400"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430"/>
          </a:p>
        </p:txBody>
      </p:sp>
      <p:sp>
        <p:nvSpPr>
          <p:cNvPr id="134" name="Google Shape;134;p13"/>
          <p:cNvSpPr txBox="1"/>
          <p:nvPr/>
        </p:nvSpPr>
        <p:spPr>
          <a:xfrm>
            <a:off x="1595875" y="31719850"/>
            <a:ext cx="12562800" cy="6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/>
              <a:t>O desenvolvimento do sistema será realizado utilizando tecnologias voltadas para aplicações desktop e banco de dados relacional. A escolha dessas ferramentas visa garantir desempenho, organização e facilidade de manutenção do sistema.</a:t>
            </a:r>
            <a:endParaRPr sz="343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/>
              <a:t> • Linguagem </a:t>
            </a:r>
            <a:r>
              <a:rPr lang="en-US" sz="3430"/>
              <a:t>utilizada no projeto:</a:t>
            </a:r>
            <a:r>
              <a:rPr lang="en-US" sz="3430"/>
              <a:t> C# (.NET)</a:t>
            </a:r>
            <a:br>
              <a:rPr lang="en-US" sz="3430"/>
            </a:br>
            <a:r>
              <a:rPr lang="en-US" sz="3430"/>
              <a:t> • Interface e Telas: Figma</a:t>
            </a:r>
            <a:br>
              <a:rPr lang="en-US" sz="3430"/>
            </a:br>
            <a:r>
              <a:rPr lang="en-US" sz="3430"/>
              <a:t> • Banco de Dados: SQLite</a:t>
            </a:r>
            <a:br>
              <a:rPr lang="en-US" sz="3430"/>
            </a:br>
            <a:r>
              <a:rPr lang="en-US" sz="3430"/>
              <a:t> • Fluxo do Sistema : Draw.IO</a:t>
            </a:r>
            <a:br>
              <a:rPr lang="en-US" sz="3430"/>
            </a:br>
            <a:r>
              <a:rPr lang="en-US" sz="3430"/>
              <a:t> </a:t>
            </a:r>
            <a:r>
              <a:rPr lang="en-US" sz="3430"/>
              <a:t>• Controle de versão: GitHub</a:t>
            </a:r>
            <a:endParaRPr sz="343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430"/>
          </a:p>
        </p:txBody>
      </p:sp>
      <p:sp>
        <p:nvSpPr>
          <p:cNvPr id="135" name="Google Shape;135;p13"/>
          <p:cNvSpPr txBox="1"/>
          <p:nvPr/>
        </p:nvSpPr>
        <p:spPr>
          <a:xfrm>
            <a:off x="1595870" y="11015884"/>
            <a:ext cx="12562800" cy="9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/>
              <a:t>A utilização de tecnologias digitais no ambiente educacional tem crescido significativamente, especialmente com a adoção de jogos como ferramentas de apoio ao ensino. Esses recursos contribuem para o engajamento dos alunos e facilitam o processo de aprendizagem de forma interativa. Nesse contexto, a empresa Messier Data &amp; Creative propõe o desenvolvimento de uma plataforma de jogos educacionais voltada para instituições de ensino fundamental e médio.</a:t>
            </a:r>
            <a:endParaRPr sz="343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/>
              <a:t>Diante dessa proposta, o presente projeto tem como objetivo desenvolver um aplicativo desktop capaz de gerenciar assinaturas desses jogos, permitindo o controle de acesso, organização dos pacotes contratados e monitoramento da utilização por parte das escolas.</a:t>
            </a:r>
            <a:endParaRPr sz="3430"/>
          </a:p>
          <a:p>
            <a:pPr indent="0" lvl="0" marL="0" marR="0" rtl="0" algn="just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343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1570075" y="21392400"/>
            <a:ext cx="12562800" cy="75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/>
              <a:t>Desenvolvimento de um sistema desktop capaz de centralizar o gerenciamento das assinaturas de jogos educacionais. A aplicação permitirá o cadastro de escolas, jogos e pacotes, além de controlar o acesso com base em regras específicas, como validação de IP autorizado e limite mensal de utilização.</a:t>
            </a:r>
            <a:endParaRPr sz="343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/>
              <a:t>• Controle de pacotes por escola</a:t>
            </a:r>
            <a:br>
              <a:rPr lang="en-US" sz="3430"/>
            </a:br>
            <a:r>
              <a:rPr lang="en-US" sz="3430"/>
              <a:t>	• Validação de acesso por IP</a:t>
            </a:r>
            <a:br>
              <a:rPr lang="en-US" sz="3430"/>
            </a:br>
            <a:r>
              <a:rPr lang="en-US" sz="3430"/>
              <a:t>	• Registro e monitoramento de acessos</a:t>
            </a:r>
            <a:br>
              <a:rPr lang="en-US" sz="3430"/>
            </a:br>
            <a:r>
              <a:rPr lang="en-US" sz="3430"/>
              <a:t>	• Bloqueio ao atingir limite mensal</a:t>
            </a:r>
            <a:br>
              <a:rPr lang="en-US" sz="3430"/>
            </a:br>
            <a:r>
              <a:rPr lang="en-US" sz="3430"/>
              <a:t>	• Geração de relatórios de uso</a:t>
            </a:r>
            <a:endParaRPr sz="343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/>
              <a:t>Dessa forma, o sistema garante maior segurança, organização e eficiência no uso da plataforma.</a:t>
            </a:r>
            <a:endParaRPr b="0" i="0" sz="343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13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b="1" i="0" lang="en-US" sz="49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IV SEMANA FECAP DE TECNOLOGIA - 2026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b="0" i="0" lang="en-US" sz="49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3"/>
          <p:cNvSpPr txBox="1"/>
          <p:nvPr/>
        </p:nvSpPr>
        <p:spPr>
          <a:xfrm>
            <a:off x="15727900" y="10982567"/>
            <a:ext cx="11177100" cy="9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30">
                <a:solidFill>
                  <a:schemeClr val="dk1"/>
                </a:solidFill>
              </a:rPr>
              <a:t>FUNCIONALIDADES:</a:t>
            </a:r>
            <a:endParaRPr b="1" sz="34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solidFill>
                  <a:schemeClr val="dk1"/>
                </a:solidFill>
              </a:rPr>
              <a:t>• </a:t>
            </a:r>
            <a:r>
              <a:rPr lang="en-US" sz="3430"/>
              <a:t>Sistema funcional para gerenciamento de assinaturas</a:t>
            </a:r>
            <a:endParaRPr sz="3430"/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solidFill>
                  <a:schemeClr val="dk1"/>
                </a:solidFill>
              </a:rPr>
              <a:t>• Cadastro de escolas, jogos e pacotes</a:t>
            </a:r>
            <a:endParaRPr sz="34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solidFill>
                  <a:schemeClr val="dk1"/>
                </a:solidFill>
              </a:rPr>
              <a:t>• Login com validação de IP</a:t>
            </a:r>
            <a:endParaRPr sz="3430"/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solidFill>
                  <a:schemeClr val="dk1"/>
                </a:solidFill>
              </a:rPr>
              <a:t>• </a:t>
            </a:r>
            <a:r>
              <a:rPr lang="en-US" sz="3430"/>
              <a:t>Registro de logs e relatórios detalhados</a:t>
            </a:r>
            <a:endParaRPr sz="3430"/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solidFill>
                  <a:schemeClr val="dk1"/>
                </a:solidFill>
              </a:rPr>
              <a:t>• Controle de limite mensal de acessos</a:t>
            </a:r>
            <a:endParaRPr sz="34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4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430">
                <a:solidFill>
                  <a:schemeClr val="dk1"/>
                </a:solidFill>
              </a:rPr>
              <a:t>BENEFÍCIOS:</a:t>
            </a:r>
            <a:endParaRPr b="1" sz="34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solidFill>
                  <a:schemeClr val="dk1"/>
                </a:solidFill>
              </a:rPr>
              <a:t>• Respostas rápida</a:t>
            </a:r>
            <a:endParaRPr sz="34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solidFill>
                  <a:schemeClr val="dk1"/>
                </a:solidFill>
              </a:rPr>
              <a:t>• Melhor organização</a:t>
            </a:r>
            <a:endParaRPr sz="34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solidFill>
                  <a:schemeClr val="dk1"/>
                </a:solidFill>
              </a:rPr>
              <a:t>• Registro de acessos (logs)</a:t>
            </a:r>
            <a:endParaRPr sz="34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solidFill>
                  <a:schemeClr val="dk1"/>
                </a:solidFill>
              </a:rPr>
              <a:t>• Relatórios por período e consumo</a:t>
            </a:r>
            <a:endParaRPr b="1" sz="343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9" name="Google Shape;139;p13" title="BANNER_PI.drawi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981350" y="22642283"/>
            <a:ext cx="11177100" cy="4003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