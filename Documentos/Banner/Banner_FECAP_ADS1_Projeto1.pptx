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3200625" cx="28800425"/>
  <p:notesSz cx="6858000" cy="9144000"/>
  <p:embeddedFontLst>
    <p:embeddedFont>
      <p:font typeface="Inter"/>
      <p:regular r:id="rId7"/>
      <p:bold r:id="rId8"/>
      <p:italic r:id="rId9"/>
      <p:boldItalic r:id="rId10"/>
    </p:embeddedFont>
    <p:embeddedFont>
      <p:font typeface="Open Sans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4366" orient="horz"/>
        <p:guide pos="5488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OpenSans-regular.fntdata"/><Relationship Id="rId10" Type="http://schemas.openxmlformats.org/officeDocument/2006/relationships/font" Target="fonts/Inter-boldItalic.fntdata"/><Relationship Id="rId13" Type="http://schemas.openxmlformats.org/officeDocument/2006/relationships/font" Target="fonts/OpenSans-italic.fntdata"/><Relationship Id="rId12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font" Target="fonts/Inter-italic.fntdata"/><Relationship Id="rId14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nter-regular.fntdata"/><Relationship Id="rId8" Type="http://schemas.openxmlformats.org/officeDocument/2006/relationships/font" Target="fonts/Inter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b="1" sz="7623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67436" lvl="0" marL="4572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indent="-519049" lvl="1" marL="9144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indent="-470599" lvl="2" marL="1371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indent="-446405" lvl="3" marL="1828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indent="-446405" lvl="4" marL="22860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indent="-446405" lvl="5" marL="27432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indent="-446405" lvl="6" marL="32004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indent="-446405" lvl="7" marL="3657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indent="-446405" lvl="8" marL="41148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b="1" sz="4574"/>
            </a:lvl1pPr>
            <a:lvl2pPr indent="-228600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b="1" sz="3811"/>
            </a:lvl2pPr>
            <a:lvl3pPr indent="-228600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b="1" sz="3430"/>
            </a:lvl3pPr>
            <a:lvl4pPr indent="-228600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4pPr>
            <a:lvl5pPr indent="-228600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5pPr>
            <a:lvl6pPr indent="-228600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6pPr>
            <a:lvl7pPr indent="-228600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7pPr>
            <a:lvl8pPr indent="-228600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8pPr>
            <a:lvl9pPr indent="-228600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b="1" sz="3049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9049" lvl="0" marL="4572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indent="-470599" lvl="1" marL="914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indent="-446405" lvl="2" marL="1371600" algn="l">
              <a:lnSpc>
                <a:spcPct val="100000"/>
              </a:lnSpc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indent="-422212" lvl="3" marL="1828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indent="-422211" lvl="4" marL="22860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indent="-422211" lvl="5" marL="27432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indent="-422211" lvl="6" marL="32004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indent="-422211" lvl="7" marL="36576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indent="-422211" lvl="8" marL="4114800" algn="l">
              <a:lnSpc>
                <a:spcPct val="100000"/>
              </a:lnSpc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indent="-567436" lvl="1" marL="91440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indent="-519049" lvl="2" marL="137160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indent="-470599" lvl="3" marL="1828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indent="-470598" lvl="4" marL="22860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indent="-470598" lvl="5" marL="27432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indent="-470598" lvl="6" marL="32004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indent="-470598" lvl="7" marL="36576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indent="-470598" lvl="8" marL="411480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b="1" sz="381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indent="-228600" lvl="1" marL="914400" algn="l">
              <a:lnSpc>
                <a:spcPct val="100000"/>
              </a:lnSpc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indent="-228600" lvl="2" marL="1371600" algn="l">
              <a:lnSpc>
                <a:spcPct val="100000"/>
              </a:lnSpc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indent="-228600" lvl="3" marL="1828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indent="-228600" lvl="4" marL="22860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indent="-228600" lvl="5" marL="27432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indent="-228600" lvl="6" marL="32004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indent="-228600" lvl="7" marL="36576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indent="-228600" lvl="8" marL="4114800" algn="l">
              <a:lnSpc>
                <a:spcPct val="100000"/>
              </a:lnSpc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b="0" i="0" sz="8385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615823" lvl="0" marL="457200" marR="0" rtl="0" algn="l">
              <a:lnSpc>
                <a:spcPct val="100000"/>
              </a:lnSpc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b="0" i="0" sz="60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567436" lvl="1" marL="914400" marR="0" rtl="0" algn="l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b="0" i="0" sz="533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519049" lvl="2" marL="1371600" marR="0" rtl="0" algn="l">
              <a:lnSpc>
                <a:spcPct val="100000"/>
              </a:lnSpc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b="0" i="0" sz="4574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70599" lvl="3" marL="1828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70598" lvl="4" marL="22860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70598" lvl="5" marL="27432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70598" lvl="6" marL="32004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70598" lvl="7" marL="36576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70598" lvl="8" marL="4114800" marR="0" rtl="0" algn="l">
              <a:lnSpc>
                <a:spcPct val="100000"/>
              </a:lnSpc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b="0" i="0" sz="3811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3552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87"/>
              <a:buFont typeface="Arial"/>
              <a:buNone/>
              <a:defRPr b="0" i="0" sz="2287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44F37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3"/>
            <p:cNvSpPr/>
            <p:nvPr/>
          </p:nvSpPr>
          <p:spPr>
            <a:xfrm>
              <a:off x="0" y="0"/>
              <a:ext cx="3032124" cy="607578"/>
            </a:xfrm>
            <a:custGeom>
              <a:rect b="b" l="l" r="r" t="t"/>
              <a:pathLst>
                <a:path extrusionOk="0" h="607578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3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3"/>
          <p:cNvSpPr/>
          <p:nvPr/>
        </p:nvSpPr>
        <p:spPr>
          <a:xfrm>
            <a:off x="3163237" y="34829695"/>
            <a:ext cx="22769151" cy="14311010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3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3"/>
            <p:cNvSpPr/>
            <p:nvPr/>
          </p:nvSpPr>
          <p:spPr>
            <a:xfrm>
              <a:off x="0" y="0"/>
              <a:ext cx="3163653" cy="870076"/>
            </a:xfrm>
            <a:custGeom>
              <a:rect b="b" l="l" r="r" t="t"/>
              <a:pathLst>
                <a:path extrusionOk="0" h="870076" w="3163653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3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l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3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3"/>
            <p:cNvSpPr/>
            <p:nvPr/>
          </p:nvSpPr>
          <p:spPr>
            <a:xfrm>
              <a:off x="0" y="0"/>
              <a:ext cx="3225442" cy="841941"/>
            </a:xfrm>
            <a:custGeom>
              <a:rect b="b" l="l" r="r" t="t"/>
              <a:pathLst>
                <a:path extrusionOk="0" h="841941" w="3225442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3032124" cy="739677"/>
            </a:xfrm>
            <a:custGeom>
              <a:rect b="b" l="l" r="r" t="t"/>
              <a:pathLst>
                <a:path extrusionOk="0" h="739677" w="3032124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3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3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3"/>
            <p:cNvSpPr/>
            <p:nvPr/>
          </p:nvSpPr>
          <p:spPr>
            <a:xfrm>
              <a:off x="0" y="0"/>
              <a:ext cx="3218728" cy="819899"/>
            </a:xfrm>
            <a:custGeom>
              <a:rect b="b" l="l" r="r" t="t"/>
              <a:pathLst>
                <a:path extrusionOk="0" h="819899" w="3218728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3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3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3"/>
            <p:cNvSpPr/>
            <p:nvPr/>
          </p:nvSpPr>
          <p:spPr>
            <a:xfrm>
              <a:off x="0" y="0"/>
              <a:ext cx="2755436" cy="803341"/>
            </a:xfrm>
            <a:custGeom>
              <a:rect b="b" l="l" r="r" t="t"/>
              <a:pathLst>
                <a:path extrusionOk="0" h="803341" w="2755436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3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3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3"/>
            <p:cNvSpPr/>
            <p:nvPr/>
          </p:nvSpPr>
          <p:spPr>
            <a:xfrm>
              <a:off x="0" y="0"/>
              <a:ext cx="1922704" cy="1176995"/>
            </a:xfrm>
            <a:custGeom>
              <a:rect b="b" l="l" r="r" t="t"/>
              <a:pathLst>
                <a:path extrusionOk="0" h="1176995" w="1922704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3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3"/>
          <p:cNvGrpSpPr/>
          <p:nvPr/>
        </p:nvGrpSpPr>
        <p:grpSpPr>
          <a:xfrm>
            <a:off x="927180" y="30011217"/>
            <a:ext cx="13848538" cy="9234980"/>
            <a:chOff x="0" y="-47625"/>
            <a:chExt cx="1302166" cy="868357"/>
          </a:xfrm>
        </p:grpSpPr>
        <p:sp>
          <p:nvSpPr>
            <p:cNvPr id="107" name="Google Shape;107;p13"/>
            <p:cNvSpPr/>
            <p:nvPr/>
          </p:nvSpPr>
          <p:spPr>
            <a:xfrm>
              <a:off x="0" y="0"/>
              <a:ext cx="1302166" cy="820732"/>
            </a:xfrm>
            <a:custGeom>
              <a:rect b="b" l="l" r="r" t="t"/>
              <a:pathLst>
                <a:path extrusionOk="0" h="820732" w="1302166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3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8925" lIns="88925" spcFirstLastPara="1" rIns="88925" wrap="square" tIns="88925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3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3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3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rect b="b" l="l" r="r" t="t"/>
                <a:pathLst>
                  <a:path extrusionOk="0" h="814469" w="1329056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cap="sq" cmpd="sng" w="19050">
                <a:solidFill>
                  <a:srgbClr val="000000"/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3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6800" lIns="96800" spcFirstLastPara="1" rIns="96800" wrap="square" tIns="96800">
                <a:noAutofit/>
              </a:bodyPr>
              <a:lstStyle/>
              <a:p>
                <a:pPr indent="0" lvl="0" marL="0" marR="0" rtl="0" algn="ctr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769"/>
                  <a:buFont typeface="Arial"/>
                  <a:buNone/>
                </a:pPr>
                <a:r>
                  <a:t/>
                </a:r>
                <a:endParaRPr b="0" i="0" sz="6769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3"/>
            <p:cNvSpPr txBox="1"/>
            <p:nvPr/>
          </p:nvSpPr>
          <p:spPr>
            <a:xfrm>
              <a:off x="1064599" y="235141"/>
              <a:ext cx="6635700" cy="484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762"/>
                <a:buFont typeface="Arial"/>
                <a:buNone/>
              </a:pPr>
              <a:r>
                <a:rPr b="1" i="0" lang="en-US" sz="45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 b="0" i="0" sz="4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4" name="Google Shape;114;p13"/>
          <p:cNvSpPr/>
          <p:nvPr/>
        </p:nvSpPr>
        <p:spPr>
          <a:xfrm>
            <a:off x="-916543" y="1151807"/>
            <a:ext cx="8568160" cy="2453356"/>
          </a:xfrm>
          <a:custGeom>
            <a:rect b="b" l="l" r="r" t="t"/>
            <a:pathLst>
              <a:path extrusionOk="0" h="1287851" w="4497722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3"/>
          <p:cNvSpPr/>
          <p:nvPr/>
        </p:nvSpPr>
        <p:spPr>
          <a:xfrm>
            <a:off x="3163237" y="-4997460"/>
            <a:ext cx="22769151" cy="14311010"/>
          </a:xfrm>
          <a:custGeom>
            <a:rect b="b" l="l" r="r" t="t"/>
            <a:pathLst>
              <a:path extrusionOk="0" h="7509691" w="11948094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3"/>
          <p:cNvSpPr/>
          <p:nvPr/>
        </p:nvSpPr>
        <p:spPr>
          <a:xfrm>
            <a:off x="21014306" y="1379884"/>
            <a:ext cx="7225835" cy="2334237"/>
          </a:xfrm>
          <a:custGeom>
            <a:rect b="b" l="l" r="r" t="t"/>
            <a:pathLst>
              <a:path extrusionOk="0" h="1225321" w="3793089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3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77"/>
              <a:buFont typeface="Arial"/>
              <a:buNone/>
            </a:pPr>
            <a:r>
              <a:rPr b="1" i="0" lang="en-US" sz="5077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8" name="Google Shape;118;p13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19" name="Google Shape;119;p13"/>
            <p:cNvSpPr/>
            <p:nvPr/>
          </p:nvSpPr>
          <p:spPr>
            <a:xfrm>
              <a:off x="0" y="0"/>
              <a:ext cx="958980" cy="1301139"/>
            </a:xfrm>
            <a:custGeom>
              <a:rect b="b" l="l" r="r" t="t"/>
              <a:pathLst>
                <a:path extrusionOk="0" h="1301139" w="95898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3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13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2" name="Google Shape;122;p13"/>
            <p:cNvSpPr/>
            <p:nvPr/>
          </p:nvSpPr>
          <p:spPr>
            <a:xfrm>
              <a:off x="0" y="0"/>
              <a:ext cx="936167" cy="1301139"/>
            </a:xfrm>
            <a:custGeom>
              <a:rect b="b" l="l" r="r" t="t"/>
              <a:pathLst>
                <a:path extrusionOk="0" h="1301139" w="936167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cap="sq" cmpd="sng" w="19050">
              <a:solidFill>
                <a:srgbClr val="000000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3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000" lIns="89000" spcFirstLastPara="1" rIns="89000" wrap="square" tIns="89000">
              <a:noAutofit/>
            </a:bodyPr>
            <a:lstStyle/>
            <a:p>
              <a:pPr indent="0" lvl="0" marL="0" marR="0" rtl="0" algn="ctr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769"/>
                <a:buFont typeface="Arial"/>
                <a:buNone/>
              </a:pPr>
              <a:r>
                <a:t/>
              </a:r>
              <a:endParaRPr b="0" i="0" sz="6769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4" name="Google Shape;124;p13"/>
          <p:cNvSpPr/>
          <p:nvPr/>
        </p:nvSpPr>
        <p:spPr>
          <a:xfrm>
            <a:off x="22527251" y="36801439"/>
            <a:ext cx="5609093" cy="5642282"/>
          </a:xfrm>
          <a:custGeom>
            <a:rect b="b" l="l" r="r" t="t"/>
            <a:pathLst>
              <a:path extrusionOk="0" h="2960783" w="2943367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769"/>
              <a:buFont typeface="Arial"/>
              <a:buNone/>
            </a:pPr>
            <a:r>
              <a:t/>
            </a:r>
            <a:endParaRPr b="0" i="0" sz="6769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3"/>
          <p:cNvSpPr txBox="1"/>
          <p:nvPr/>
        </p:nvSpPr>
        <p:spPr>
          <a:xfrm>
            <a:off x="-6687" y="3747667"/>
            <a:ext cx="28813800" cy="23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434"/>
              <a:buFont typeface="Arial"/>
              <a:buNone/>
            </a:pPr>
            <a:r>
              <a:rPr b="1" lang="en-US" sz="7534">
                <a:latin typeface="Open Sans"/>
                <a:ea typeface="Open Sans"/>
                <a:cs typeface="Open Sans"/>
                <a:sym typeface="Open Sans"/>
              </a:rPr>
              <a:t>Sistema Desktop para Gestão de Assinaturas de Jogos Educacionais – Messier Data &amp; Creative </a:t>
            </a:r>
            <a:endParaRPr b="0" i="0" sz="653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3"/>
          <p:cNvSpPr txBox="1"/>
          <p:nvPr/>
        </p:nvSpPr>
        <p:spPr>
          <a:xfrm>
            <a:off x="1534413" y="6355575"/>
            <a:ext cx="25731600" cy="17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Ana Julia Quintans</a:t>
            </a: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Cleyton Ferreira</a:t>
            </a: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Leonardo Encinas</a:t>
            </a: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b="1" lang="en-US" sz="4762">
                <a:latin typeface="Open Sans"/>
                <a:ea typeface="Open Sans"/>
                <a:cs typeface="Open Sans"/>
                <a:sym typeface="Open Sans"/>
              </a:rPr>
              <a:t>Riane Toscano, Ricardo Rios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b="0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imar Lopes</a:t>
            </a:r>
            <a:r>
              <a:rPr b="0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Eduardo Savino</a:t>
            </a:r>
            <a:r>
              <a:rPr b="0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Lucy Tabuti</a:t>
            </a:r>
            <a:r>
              <a:rPr b="0" i="0" lang="en-US" sz="4762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4762">
                <a:latin typeface="Open Sans"/>
                <a:ea typeface="Open Sans"/>
                <a:cs typeface="Open Sans"/>
                <a:sym typeface="Open Sans"/>
              </a:rPr>
              <a:t>Renata Muniz, Ronaldo Araujo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3"/>
          <p:cNvSpPr txBox="1"/>
          <p:nvPr/>
        </p:nvSpPr>
        <p:spPr>
          <a:xfrm>
            <a:off x="15353293" y="15839628"/>
            <a:ext cx="124332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>
                <a:latin typeface="Inter"/>
                <a:ea typeface="Inter"/>
                <a:cs typeface="Inter"/>
                <a:sym typeface="Inter"/>
              </a:rPr>
              <a:t>Fluxo 01: Fluxo do Sistema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3"/>
          <p:cNvSpPr txBox="1"/>
          <p:nvPr/>
        </p:nvSpPr>
        <p:spPr>
          <a:xfrm>
            <a:off x="15353293" y="21939004"/>
            <a:ext cx="12433200" cy="52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b="0" i="0" lang="en-US" sz="343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Autoria Própria (202</a:t>
            </a:r>
            <a:r>
              <a:rPr lang="en-US" sz="3430">
                <a:latin typeface="Inter"/>
                <a:ea typeface="Inter"/>
                <a:cs typeface="Inter"/>
                <a:sym typeface="Inter"/>
              </a:rPr>
              <a:t>6</a:t>
            </a:r>
            <a:r>
              <a:rPr b="0" i="0" lang="en-US" sz="343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3"/>
          <p:cNvSpPr txBox="1"/>
          <p:nvPr/>
        </p:nvSpPr>
        <p:spPr>
          <a:xfrm>
            <a:off x="2561448" y="30828367"/>
            <a:ext cx="101865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5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16223205" y="9804645"/>
            <a:ext cx="10186500" cy="13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lang="en-US" sz="4500">
                <a:latin typeface="Open Sans"/>
                <a:ea typeface="Open Sans"/>
                <a:cs typeface="Open Sans"/>
                <a:sym typeface="Open Sans"/>
              </a:rPr>
              <a:t>FUNCIONALIDADES</a:t>
            </a:r>
            <a:endParaRPr b="1" sz="450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t/>
            </a:r>
            <a:endParaRPr b="1" sz="45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1" name="Google Shape;131;p13"/>
          <p:cNvSpPr txBox="1"/>
          <p:nvPr/>
        </p:nvSpPr>
        <p:spPr>
          <a:xfrm>
            <a:off x="2644303" y="10010495"/>
            <a:ext cx="101865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lang="en-US" sz="4500"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3"/>
          <p:cNvSpPr txBox="1"/>
          <p:nvPr/>
        </p:nvSpPr>
        <p:spPr>
          <a:xfrm>
            <a:off x="2758254" y="20417139"/>
            <a:ext cx="101865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i="0" lang="en-US" sz="45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3"/>
          <p:cNvSpPr txBox="1"/>
          <p:nvPr/>
        </p:nvSpPr>
        <p:spPr>
          <a:xfrm>
            <a:off x="15966975" y="31986551"/>
            <a:ext cx="11400000" cy="56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30"/>
              <a:t>MESSIER DATA &amp; CREATIVE. Projeto Interdisciplinar: Aplicativo Desktop para Gestão de Assinaturas de Jogos Educacionais. 2026. </a:t>
            </a:r>
            <a:endParaRPr sz="3430"/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rPr lang="en-US" sz="3400">
                <a:solidFill>
                  <a:schemeClr val="dk1"/>
                </a:solidFill>
              </a:rPr>
              <a:t>KNAPP, Jake; ZERATSKY, John; KOWITZ, Braden. </a:t>
            </a:r>
            <a:r>
              <a:rPr i="1" lang="en-US" sz="3400">
                <a:solidFill>
                  <a:schemeClr val="dk1"/>
                </a:solidFill>
              </a:rPr>
              <a:t>Sprint: o método usado no Google para testar e aplicar novas ideias em apenas cinco dias</a:t>
            </a:r>
            <a:r>
              <a:rPr lang="en-US" sz="3400">
                <a:solidFill>
                  <a:schemeClr val="dk1"/>
                </a:solidFill>
              </a:rPr>
              <a:t>. Rio de Janeiro: Intrínseca, 2017. </a:t>
            </a:r>
            <a:endParaRPr sz="3400"/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/>
          </a:p>
        </p:txBody>
      </p:sp>
      <p:sp>
        <p:nvSpPr>
          <p:cNvPr id="134" name="Google Shape;134;p13"/>
          <p:cNvSpPr txBox="1"/>
          <p:nvPr/>
        </p:nvSpPr>
        <p:spPr>
          <a:xfrm>
            <a:off x="1595875" y="31719850"/>
            <a:ext cx="12562800" cy="69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/>
              <a:t>O desenvolvimento do sistema será realizado utilizando tecnologias voltadas para aplicações desktop e banco de dados relacional. A escolha dessas ferramentas visa garantir desempenho, organização e facilidade de manutenção do sistema.</a:t>
            </a:r>
            <a:endParaRPr sz="343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/>
              <a:t> • Linguagem </a:t>
            </a:r>
            <a:r>
              <a:rPr lang="en-US" sz="3430"/>
              <a:t>utilizada no projeto:</a:t>
            </a:r>
            <a:r>
              <a:rPr lang="en-US" sz="3430"/>
              <a:t> C# (.NET)</a:t>
            </a:r>
            <a:br>
              <a:rPr lang="en-US" sz="3430"/>
            </a:br>
            <a:r>
              <a:rPr lang="en-US" sz="3430"/>
              <a:t> • Interface e Telas: Figma</a:t>
            </a:r>
            <a:br>
              <a:rPr lang="en-US" sz="3430"/>
            </a:br>
            <a:r>
              <a:rPr lang="en-US" sz="3430"/>
              <a:t> • Banco de Dados: SQLite</a:t>
            </a:r>
            <a:br>
              <a:rPr lang="en-US" sz="3430"/>
            </a:br>
            <a:r>
              <a:rPr lang="en-US" sz="3430"/>
              <a:t> • Fluxo do Sistema : Draw.IO</a:t>
            </a:r>
            <a:br>
              <a:rPr lang="en-US" sz="3430"/>
            </a:br>
            <a:r>
              <a:rPr lang="en-US" sz="3430"/>
              <a:t> </a:t>
            </a:r>
            <a:r>
              <a:rPr lang="en-US" sz="3430"/>
              <a:t>• Controle de versão: GitHub</a:t>
            </a:r>
            <a:endParaRPr sz="343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3430"/>
          </a:p>
        </p:txBody>
      </p:sp>
      <p:sp>
        <p:nvSpPr>
          <p:cNvPr id="135" name="Google Shape;135;p13"/>
          <p:cNvSpPr txBox="1"/>
          <p:nvPr/>
        </p:nvSpPr>
        <p:spPr>
          <a:xfrm>
            <a:off x="1595870" y="11015884"/>
            <a:ext cx="12562800" cy="94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/>
              <a:t>A utilização de tecnologias digitais no ambiente educacional tem crescido significativamente, especialmente com a adoção de jogos como ferramentas de apoio ao ensino. Esses recursos contribuem para o engajamento dos alunos e facilitam o processo de aprendizagem de forma interativa. Nesse contexto, a empresa Messier Data &amp; Creative propõe o desenvolvimento de uma plataforma de jogos educacionais voltada para instituições de ensino fundamental e médio.</a:t>
            </a:r>
            <a:endParaRPr sz="3430"/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/>
              <a:t>Diante dessa proposta, o presente projeto tem como objetivo desenvolver um aplicativo desktop capaz de gerenciar assinaturas desses jogos, permitindo o controle de acesso, organização dos pacotes contratados e monitoramento da utilização por parte das escolas.</a:t>
            </a:r>
            <a:endParaRPr sz="3430"/>
          </a:p>
          <a:p>
            <a:pPr indent="0" lvl="0" marL="0" marR="0" rtl="0" algn="just">
              <a:lnSpc>
                <a:spcPct val="14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b="0" i="0" sz="343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6" name="Google Shape;136;p13"/>
          <p:cNvSpPr txBox="1"/>
          <p:nvPr/>
        </p:nvSpPr>
        <p:spPr>
          <a:xfrm>
            <a:off x="1570075" y="21392400"/>
            <a:ext cx="12562800" cy="75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/>
              <a:t>Desenvolvimento de um sistema desktop capaz de centralizar o gerenciamento das assinaturas de jogos educacionais. A aplicação permitirá o cadastro de escolas, jogos e pacotes, além de controlar o acesso com base em regras específicas, como validação de IP autorizado e limite mensal de utilização.</a:t>
            </a:r>
            <a:endParaRPr sz="3430"/>
          </a:p>
          <a:p>
            <a:pPr indent="45720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/>
              <a:t>• Controle de pacotes por escola</a:t>
            </a:r>
            <a:br>
              <a:rPr lang="en-US" sz="3430"/>
            </a:br>
            <a:r>
              <a:rPr lang="en-US" sz="3430"/>
              <a:t>	• Validação de acesso por IP</a:t>
            </a:r>
            <a:br>
              <a:rPr lang="en-US" sz="3430"/>
            </a:br>
            <a:r>
              <a:rPr lang="en-US" sz="3430"/>
              <a:t>	• Registro e monitoramento de acessos</a:t>
            </a:r>
            <a:br>
              <a:rPr lang="en-US" sz="3430"/>
            </a:br>
            <a:r>
              <a:rPr lang="en-US" sz="3430"/>
              <a:t>	• Bloqueio ao atingir limite mensal</a:t>
            </a:r>
            <a:br>
              <a:rPr lang="en-US" sz="3430"/>
            </a:br>
            <a:r>
              <a:rPr lang="en-US" sz="3430"/>
              <a:t>	• Geração de relatórios de uso</a:t>
            </a:r>
            <a:endParaRPr sz="3430"/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/>
              <a:t>Dessa forma, o sistema garante maior segurança, organização e eficiência no uso da plataforma.</a:t>
            </a:r>
            <a:endParaRPr b="0" i="0" sz="343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13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1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IV SEMANA FECAP DE TECNOLOGIA - 2026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955"/>
              <a:buFont typeface="Arial"/>
              <a:buNone/>
            </a:pPr>
            <a:r>
              <a:rPr b="0" i="0" lang="en-US" sz="4955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3"/>
          <p:cNvSpPr txBox="1"/>
          <p:nvPr/>
        </p:nvSpPr>
        <p:spPr>
          <a:xfrm>
            <a:off x="15952300" y="10944238"/>
            <a:ext cx="11177100" cy="42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>
                <a:solidFill>
                  <a:schemeClr val="dk1"/>
                </a:solidFill>
              </a:rPr>
              <a:t>• </a:t>
            </a:r>
            <a:r>
              <a:rPr lang="en-US" sz="3430"/>
              <a:t>Sistema funcional para gerenciamento de assinaturas</a:t>
            </a:r>
            <a:endParaRPr sz="3430"/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>
                <a:solidFill>
                  <a:schemeClr val="dk1"/>
                </a:solidFill>
              </a:rPr>
              <a:t>• Cadastro de escolas, jogos e pacotes</a:t>
            </a:r>
            <a:endParaRPr sz="343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solidFill>
                  <a:schemeClr val="dk1"/>
                </a:solidFill>
              </a:rPr>
              <a:t>• Login com validação de IP</a:t>
            </a:r>
            <a:endParaRPr sz="3430"/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>
                <a:solidFill>
                  <a:schemeClr val="dk1"/>
                </a:solidFill>
              </a:rPr>
              <a:t>• </a:t>
            </a:r>
            <a:r>
              <a:rPr lang="en-US" sz="3430"/>
              <a:t>Registro de logs e relatórios detalhados</a:t>
            </a:r>
            <a:endParaRPr sz="3430"/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430">
                <a:solidFill>
                  <a:schemeClr val="dk1"/>
                </a:solidFill>
              </a:rPr>
              <a:t>• Controle de limite mensal de acessos</a:t>
            </a:r>
            <a:endParaRPr sz="3430"/>
          </a:p>
          <a:p>
            <a:pPr indent="0" lvl="0" marL="0" marR="0" rtl="0" algn="just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None/>
            </a:pPr>
            <a:r>
              <a:t/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3"/>
          <p:cNvSpPr txBox="1"/>
          <p:nvPr/>
        </p:nvSpPr>
        <p:spPr>
          <a:xfrm>
            <a:off x="15743889" y="25682647"/>
            <a:ext cx="11652000" cy="27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>
                <a:solidFill>
                  <a:schemeClr val="dk1"/>
                </a:solidFill>
              </a:rPr>
              <a:t>• </a:t>
            </a:r>
            <a:r>
              <a:rPr lang="en-US" sz="3430">
                <a:solidFill>
                  <a:schemeClr val="dk1"/>
                </a:solidFill>
              </a:rPr>
              <a:t>Respostas rápida</a:t>
            </a:r>
            <a:endParaRPr sz="3430"/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>
                <a:solidFill>
                  <a:schemeClr val="dk1"/>
                </a:solidFill>
              </a:rPr>
              <a:t>• Melhor organização</a:t>
            </a:r>
            <a:endParaRPr sz="3430"/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>
                <a:solidFill>
                  <a:schemeClr val="dk1"/>
                </a:solidFill>
              </a:rPr>
              <a:t>• </a:t>
            </a:r>
            <a:r>
              <a:rPr lang="en-US" sz="3430"/>
              <a:t>Registro de acessos (logs)</a:t>
            </a:r>
            <a:endParaRPr sz="3430"/>
          </a:p>
          <a:p>
            <a:pPr indent="0" lvl="0" marL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>
                <a:solidFill>
                  <a:schemeClr val="dk1"/>
                </a:solidFill>
              </a:rPr>
              <a:t>• </a:t>
            </a:r>
            <a:r>
              <a:rPr lang="en-US" sz="3430"/>
              <a:t>Relatórios por período e consumo</a:t>
            </a:r>
            <a:endParaRPr sz="3430"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40" name="Google Shape;140;p13" title="BANNER_PI.drawio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955225" y="17587749"/>
            <a:ext cx="11177100" cy="4003266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3"/>
          <p:cNvSpPr txBox="1"/>
          <p:nvPr/>
        </p:nvSpPr>
        <p:spPr>
          <a:xfrm>
            <a:off x="16223204" y="24151339"/>
            <a:ext cx="101865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762"/>
              <a:buFont typeface="Arial"/>
              <a:buNone/>
            </a:pPr>
            <a:r>
              <a:rPr b="1" lang="en-US" sz="4500">
                <a:latin typeface="Open Sans"/>
                <a:ea typeface="Open Sans"/>
                <a:cs typeface="Open Sans"/>
                <a:sym typeface="Open Sans"/>
              </a:rPr>
              <a:t>BENEFÍCIOS</a:t>
            </a:r>
            <a:endParaRPr b="0" i="0" sz="4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